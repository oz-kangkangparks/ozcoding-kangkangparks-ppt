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3716000" cx="2438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7063e3c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a7063e3c1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7063e3c1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7063e3c1d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7063e3c1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a7063e3c1d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10" Type="http://schemas.openxmlformats.org/officeDocument/2006/relationships/image" Target="../media/image18.png"/><Relationship Id="rId9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11" Type="http://schemas.openxmlformats.org/officeDocument/2006/relationships/image" Target="../media/image2.png"/><Relationship Id="rId10" Type="http://schemas.openxmlformats.org/officeDocument/2006/relationships/image" Target="../media/image31.png"/><Relationship Id="rId12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5.png"/><Relationship Id="rId7" Type="http://schemas.openxmlformats.org/officeDocument/2006/relationships/image" Target="../media/image19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Relationship Id="rId4" Type="http://schemas.openxmlformats.org/officeDocument/2006/relationships/image" Target="../media/image22.png"/><Relationship Id="rId10" Type="http://schemas.openxmlformats.org/officeDocument/2006/relationships/hyperlink" Target="https://moapdf.com" TargetMode="External"/><Relationship Id="rId9" Type="http://schemas.openxmlformats.org/officeDocument/2006/relationships/hyperlink" Target="http://kangkangparks.com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21.png"/><Relationship Id="rId7" Type="http://schemas.openxmlformats.org/officeDocument/2006/relationships/image" Target="../media/image13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image" Target="../media/image44.png"/><Relationship Id="rId5" Type="http://schemas.openxmlformats.org/officeDocument/2006/relationships/image" Target="../media/image30.png"/><Relationship Id="rId6" Type="http://schemas.openxmlformats.org/officeDocument/2006/relationships/image" Target="../media/image5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Relationship Id="rId4" Type="http://schemas.openxmlformats.org/officeDocument/2006/relationships/image" Target="../media/image36.png"/><Relationship Id="rId5" Type="http://schemas.openxmlformats.org/officeDocument/2006/relationships/image" Target="../media/image47.png"/><Relationship Id="rId6" Type="http://schemas.openxmlformats.org/officeDocument/2006/relationships/image" Target="../media/image5.png"/><Relationship Id="rId7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48.png"/><Relationship Id="rId10" Type="http://schemas.openxmlformats.org/officeDocument/2006/relationships/image" Target="../media/image54.png"/><Relationship Id="rId9" Type="http://schemas.openxmlformats.org/officeDocument/2006/relationships/image" Target="../media/image53.png"/><Relationship Id="rId5" Type="http://schemas.openxmlformats.org/officeDocument/2006/relationships/image" Target="../media/image50.png"/><Relationship Id="rId6" Type="http://schemas.openxmlformats.org/officeDocument/2006/relationships/image" Target="../media/image43.png"/><Relationship Id="rId7" Type="http://schemas.openxmlformats.org/officeDocument/2006/relationships/image" Target="../media/image52.png"/><Relationship Id="rId8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FBA9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5800" y="1320800"/>
            <a:ext cx="41656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05100" y="1536700"/>
            <a:ext cx="27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578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2025  l  Ver.1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28600" y="10299700"/>
            <a:ext cx="24803100" cy="34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7327901" y="-3327399"/>
            <a:ext cx="9766299" cy="2054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98700" y="10744200"/>
            <a:ext cx="19786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02700" y="32893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590000" y="98679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94000" y="32893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94000" y="98679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8813800" y="11099800"/>
            <a:ext cx="6769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91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box@kangkangparks.com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159200" y="9054000"/>
            <a:ext cx="16065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800">
            <a:noAutofit/>
          </a:bodyPr>
          <a:lstStyle/>
          <a:p>
            <a:pPr indent="0" lvl="0" marL="0" marR="0" rtl="0" algn="ctr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388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팀원</a:t>
            </a:r>
            <a:r>
              <a:rPr b="0" i="0" lang="ko-KR" sz="4388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ko-KR" sz="4388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강진일</a:t>
            </a:r>
            <a:r>
              <a:rPr b="0" i="0" lang="ko-KR" sz="4388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ko-KR" sz="4388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박유진</a:t>
            </a:r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9">
            <a:alphaModFix/>
          </a:blip>
          <a:srcRect b="42383" l="0" r="0" t="40276"/>
          <a:stretch/>
        </p:blipFill>
        <p:spPr>
          <a:xfrm>
            <a:off x="17005300" y="10769600"/>
            <a:ext cx="5486400" cy="95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0" y="4956750"/>
            <a:ext cx="5486400" cy="19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3924150" y="6704600"/>
            <a:ext cx="165357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88">
                <a:solidFill>
                  <a:srgbClr val="212121"/>
                </a:solidFill>
              </a:rPr>
              <a:t>AI</a:t>
            </a:r>
            <a:r>
              <a:rPr lang="ko-KR" sz="4088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sz="4088">
                <a:solidFill>
                  <a:srgbClr val="212121"/>
                </a:solidFill>
              </a:rPr>
              <a:t>IoT</a:t>
            </a:r>
            <a:r>
              <a:rPr lang="ko-KR" sz="4088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sz="4088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소프트웨어로</a:t>
            </a:r>
            <a:r>
              <a:rPr lang="ko-KR" sz="4088">
                <a:solidFill>
                  <a:srgbClr val="212121"/>
                </a:solidFill>
              </a:rPr>
              <a:t> </a:t>
            </a:r>
            <a:r>
              <a:rPr lang="ko-KR" sz="4088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더</a:t>
            </a:r>
            <a:r>
              <a:rPr lang="ko-KR" sz="4088">
                <a:solidFill>
                  <a:srgbClr val="212121"/>
                </a:solidFill>
              </a:rPr>
              <a:t> </a:t>
            </a:r>
            <a:r>
              <a:rPr lang="ko-KR" sz="4088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스마트한</a:t>
            </a:r>
            <a:r>
              <a:rPr lang="ko-KR" sz="4088">
                <a:solidFill>
                  <a:srgbClr val="212121"/>
                </a:solidFill>
              </a:rPr>
              <a:t> </a:t>
            </a:r>
            <a:r>
              <a:rPr lang="ko-KR" sz="4088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세상을</a:t>
            </a:r>
            <a:r>
              <a:rPr lang="ko-KR" sz="4088">
                <a:solidFill>
                  <a:srgbClr val="212121"/>
                </a:solidFill>
              </a:rPr>
              <a:t> </a:t>
            </a:r>
            <a:r>
              <a:rPr lang="ko-KR" sz="4088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만듭니다</a:t>
            </a:r>
            <a:r>
              <a:rPr lang="ko-KR" sz="4088">
                <a:solidFill>
                  <a:srgbClr val="212121"/>
                </a:solidFill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FBA9D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" y="9791700"/>
            <a:ext cx="247269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698500"/>
            <a:ext cx="4572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0960100" y="-8813800"/>
            <a:ext cx="2476500" cy="227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86900" y="23114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358900" y="2082800"/>
            <a:ext cx="20916900" cy="1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0" spcFirstLastPara="1" rIns="0" wrap="square" tIns="71100">
            <a:noAutofit/>
          </a:bodyPr>
          <a:lstStyle/>
          <a:p>
            <a:pPr indent="0" lvl="0" marL="0" marR="0" rtl="0" algn="l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에이전시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활동</a:t>
            </a:r>
            <a:endParaRPr/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11607800" y="876300"/>
            <a:ext cx="8902700" cy="151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2800" y="4025900"/>
            <a:ext cx="7404100" cy="8877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3540850" y="5594400"/>
            <a:ext cx="58677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프로필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작성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- 5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포트폴리오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등록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Smart Factory MES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창업자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멘탈케어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앱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스마트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재고관리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PDF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문서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변환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SaaS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웹소설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창작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지원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SaaS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2293600" y="4381500"/>
            <a:ext cx="6934200" cy="749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위시켓</a:t>
            </a:r>
            <a:endParaRPr b="1"/>
          </a:p>
        </p:txBody>
      </p:sp>
      <p:pic>
        <p:nvPicPr>
          <p:cNvPr id="111" name="Google Shape;1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50500" y="10147300"/>
            <a:ext cx="6781800" cy="1689100"/>
          </a:xfrm>
          <a:prstGeom prst="rect">
            <a:avLst/>
          </a:prstGeom>
          <a:noFill/>
          <a:ln>
            <a:noFill/>
          </a:ln>
          <a:effectLst>
            <a:outerShdw blurRad="37031" dir="2940000" dist="170922">
              <a:srgbClr val="3C2415"/>
            </a:outerShdw>
          </a:effectLst>
        </p:spPr>
      </p:pic>
      <p:pic>
        <p:nvPicPr>
          <p:cNvPr id="112" name="Google Shape;11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383000" y="10160000"/>
            <a:ext cx="6515100" cy="1651000"/>
          </a:xfrm>
          <a:prstGeom prst="rect">
            <a:avLst/>
          </a:prstGeom>
          <a:noFill/>
          <a:ln>
            <a:noFill/>
          </a:ln>
          <a:effectLst>
            <a:outerShdw blurRad="35578" dir="2940000" dist="164228">
              <a:srgbClr val="3C2415"/>
            </a:outerShdw>
          </a:effectLst>
        </p:spPr>
      </p:pic>
      <p:sp>
        <p:nvSpPr>
          <p:cNvPr id="113" name="Google Shape;113;p14"/>
          <p:cNvSpPr txBox="1"/>
          <p:nvPr/>
        </p:nvSpPr>
        <p:spPr>
          <a:xfrm rot="720091">
            <a:off x="20955039" y="9829834"/>
            <a:ext cx="1866907" cy="749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875" lIns="0" spcFirstLastPara="1" rIns="0" wrap="square" tIns="208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-KR" sz="4240" u="none" cap="none" strike="noStrike">
                <a:solidFill>
                  <a:srgbClr val="3C2415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1" lang="ko-KR" sz="4240" u="none" cap="none" strike="noStrike">
                <a:solidFill>
                  <a:srgbClr val="3C2415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1" lang="ko-KR" sz="3428" u="none" cap="none" strike="noStrike">
                <a:solidFill>
                  <a:srgbClr val="3C2415"/>
                </a:solidFill>
                <a:latin typeface="Calibri"/>
                <a:ea typeface="Calibri"/>
                <a:cs typeface="Calibri"/>
                <a:sym typeface="Calibri"/>
              </a:rPr>
              <a:t>둥탁</a:t>
            </a:r>
            <a:endParaRPr/>
          </a:p>
        </p:txBody>
      </p:sp>
      <p:pic>
        <p:nvPicPr>
          <p:cNvPr id="114" name="Google Shape;114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-360000">
            <a:off x="10629900" y="9969500"/>
            <a:ext cx="3429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33000" y="10223500"/>
            <a:ext cx="457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/>
        </p:nvSpPr>
        <p:spPr>
          <a:xfrm>
            <a:off x="7458075" y="3886200"/>
            <a:ext cx="11229900" cy="810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latin typeface="Calibri"/>
                <a:ea typeface="Calibri"/>
                <a:cs typeface="Calibri"/>
                <a:sym typeface="Calibri"/>
              </a:rPr>
              <a:t>에이전시 활동 잠정 보류함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latin typeface="Calibri"/>
                <a:ea typeface="Calibri"/>
                <a:cs typeface="Calibri"/>
                <a:sym typeface="Calibri"/>
              </a:rPr>
              <a:t>MoaPDF, MoaNovel, MoaSchool, MoaSpace, MoaMap 등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latin typeface="Calibri"/>
                <a:ea typeface="Calibri"/>
                <a:cs typeface="Calibri"/>
                <a:sym typeface="Calibri"/>
              </a:rPr>
              <a:t>Moa Brand에 집중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FBA9D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" y="9791700"/>
            <a:ext cx="247269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698500"/>
            <a:ext cx="4572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0960100" y="-8813800"/>
            <a:ext cx="2476500" cy="227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86900" y="23114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1358900" y="2082800"/>
            <a:ext cx="20916900" cy="1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0" spcFirstLastPara="1" rIns="0" wrap="square" tIns="71100">
            <a:noAutofit/>
          </a:bodyPr>
          <a:lstStyle/>
          <a:p>
            <a:pPr indent="0" lvl="0" marL="0" marR="0" rtl="0" algn="l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Moa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브랜드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론칭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- MoaMap</a:t>
            </a:r>
            <a:endParaRPr/>
          </a:p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11607800" y="876300"/>
            <a:ext cx="8902700" cy="151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2800" y="4025900"/>
            <a:ext cx="7404100" cy="88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9801400" y="9673475"/>
            <a:ext cx="54765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시간대별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유동인구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집계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특정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영역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출입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통계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차량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보행자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분리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맞춤형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리포트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생성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343550" y="8759075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기능</a:t>
            </a:r>
            <a:endParaRPr b="1"/>
          </a:p>
        </p:txBody>
      </p:sp>
      <p:sp>
        <p:nvSpPr>
          <p:cNvPr id="130" name="Google Shape;130;p15"/>
          <p:cNvSpPr txBox="1"/>
          <p:nvPr/>
        </p:nvSpPr>
        <p:spPr>
          <a:xfrm>
            <a:off x="17341800" y="9673475"/>
            <a:ext cx="57504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아날로그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인력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조사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-&gt; AI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자동화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비용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시간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효율성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증대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정확도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향상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실시간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확보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5722250" y="8759075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혁신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포인트</a:t>
            </a:r>
            <a:endParaRPr b="1"/>
          </a:p>
        </p:txBody>
      </p:sp>
      <p:sp>
        <p:nvSpPr>
          <p:cNvPr id="132" name="Google Shape;132;p15"/>
          <p:cNvSpPr txBox="1"/>
          <p:nvPr/>
        </p:nvSpPr>
        <p:spPr>
          <a:xfrm>
            <a:off x="9801400" y="5545975"/>
            <a:ext cx="57504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AI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유동인구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시스템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실시간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수집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처리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직관적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대시보드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제공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MVP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개발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상태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43550" y="4631575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</a:rPr>
              <a:t>MoaMap</a:t>
            </a:r>
            <a:endParaRPr b="1"/>
          </a:p>
        </p:txBody>
      </p:sp>
      <p:sp>
        <p:nvSpPr>
          <p:cNvPr id="134" name="Google Shape;134;p15"/>
          <p:cNvSpPr txBox="1"/>
          <p:nvPr/>
        </p:nvSpPr>
        <p:spPr>
          <a:xfrm>
            <a:off x="17341800" y="5545975"/>
            <a:ext cx="54765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OpenCV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처리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YOLOv8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객체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인식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객체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트래킹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알고리즘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시각화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기술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5722250" y="4631575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핵심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기술</a:t>
            </a:r>
            <a:endParaRPr b="1"/>
          </a:p>
        </p:txBody>
      </p:sp>
      <p:sp>
        <p:nvSpPr>
          <p:cNvPr id="136" name="Google Shape;136;p15"/>
          <p:cNvSpPr/>
          <p:nvPr/>
        </p:nvSpPr>
        <p:spPr>
          <a:xfrm>
            <a:off x="7458075" y="3886200"/>
            <a:ext cx="11229900" cy="810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latin typeface="Calibri"/>
                <a:ea typeface="Calibri"/>
                <a:cs typeface="Calibri"/>
                <a:sym typeface="Calibri"/>
              </a:rPr>
              <a:t>MoaMap</a:t>
            </a:r>
            <a:r>
              <a:rPr lang="ko-KR" sz="2800">
                <a:latin typeface="Calibri"/>
                <a:ea typeface="Calibri"/>
                <a:cs typeface="Calibri"/>
                <a:sym typeface="Calibri"/>
              </a:rPr>
              <a:t> 잠정 보류함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latin typeface="Calibri"/>
                <a:ea typeface="Calibri"/>
                <a:cs typeface="Calibri"/>
                <a:sym typeface="Calibri"/>
              </a:rPr>
              <a:t>MoaNovel, MoaSchool </a:t>
            </a:r>
            <a:r>
              <a:rPr lang="ko-KR" sz="2800">
                <a:latin typeface="Calibri"/>
                <a:ea typeface="Calibri"/>
                <a:cs typeface="Calibri"/>
                <a:sym typeface="Calibri"/>
              </a:rPr>
              <a:t>집중 개발 및 서비스 후 MoaMap 프로젝트 진행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FBA9D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" y="11188700"/>
            <a:ext cx="248920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698500"/>
            <a:ext cx="4699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6400800" y="-4267200"/>
            <a:ext cx="11569700" cy="227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86900" y="2197100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2200" y="3416300"/>
            <a:ext cx="221869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358900" y="1892300"/>
            <a:ext cx="20916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0" spcFirstLastPara="1" rIns="0" wrap="square" tIns="71100">
            <a:noAutofit/>
          </a:bodyPr>
          <a:lstStyle/>
          <a:p>
            <a:pPr indent="0" lvl="0" marL="0" marR="0" rtl="0" algn="l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MoaMap -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향후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467900" y="9836150"/>
            <a:ext cx="54030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실시간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스트리밍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AI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엔진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연동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지연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시간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최소화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저해상도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업스케일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처리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350250" y="8921750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</a:rPr>
              <a:t>3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단계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: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실시간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처리</a:t>
            </a:r>
            <a:endParaRPr b="1"/>
          </a:p>
        </p:txBody>
      </p:sp>
      <p:sp>
        <p:nvSpPr>
          <p:cNvPr id="149" name="Google Shape;149;p16"/>
          <p:cNvSpPr txBox="1"/>
          <p:nvPr/>
        </p:nvSpPr>
        <p:spPr>
          <a:xfrm>
            <a:off x="2501550" y="5134100"/>
            <a:ext cx="38049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IP Camera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설치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HIK NVR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구성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최적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위치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선정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품질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최적화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4219700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</a:rPr>
              <a:t>1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단계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: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카메라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설치</a:t>
            </a:r>
            <a:endParaRPr b="1"/>
          </a:p>
        </p:txBody>
      </p:sp>
      <p:sp>
        <p:nvSpPr>
          <p:cNvPr id="151" name="Google Shape;151;p16"/>
          <p:cNvSpPr txBox="1"/>
          <p:nvPr/>
        </p:nvSpPr>
        <p:spPr>
          <a:xfrm>
            <a:off x="18441850" y="9836150"/>
            <a:ext cx="37449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객체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인식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분류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이동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경로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추적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행동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패턴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정확도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지속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개선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6511800" y="8921750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</a:rPr>
              <a:t>4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단계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: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객체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b="1"/>
          </a:p>
        </p:txBody>
      </p:sp>
      <p:sp>
        <p:nvSpPr>
          <p:cNvPr id="153" name="Google Shape;153;p16"/>
          <p:cNvSpPr txBox="1"/>
          <p:nvPr/>
        </p:nvSpPr>
        <p:spPr>
          <a:xfrm>
            <a:off x="18317574" y="5121200"/>
            <a:ext cx="45804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실시간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대시보드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제공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상권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리포트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매장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입지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선정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지원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마케팅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전략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수립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지원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6752929" y="4206800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</a:rPr>
              <a:t>5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단계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: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활용</a:t>
            </a:r>
            <a:endParaRPr b="1"/>
          </a:p>
        </p:txBody>
      </p:sp>
      <p:sp>
        <p:nvSpPr>
          <p:cNvPr id="155" name="Google Shape;155;p16"/>
          <p:cNvSpPr txBox="1"/>
          <p:nvPr/>
        </p:nvSpPr>
        <p:spPr>
          <a:xfrm>
            <a:off x="2031401" y="9836150"/>
            <a:ext cx="43419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RTSP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프로토콜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활용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엣지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연결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안정적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전송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보안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시스템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구축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392793" y="8921750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</a:rPr>
              <a:t>2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단계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: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서버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연결</a:t>
            </a:r>
            <a:endParaRPr b="1"/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72350" y="3683000"/>
            <a:ext cx="9766300" cy="49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/>
          <p:nvPr/>
        </p:nvSpPr>
        <p:spPr>
          <a:xfrm>
            <a:off x="7458075" y="3886200"/>
            <a:ext cx="11229900" cy="810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latin typeface="Calibri"/>
                <a:ea typeface="Calibri"/>
                <a:cs typeface="Calibri"/>
                <a:sym typeface="Calibri"/>
              </a:rPr>
              <a:t>MoaMap 잠정 보류함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latin typeface="Calibri"/>
                <a:ea typeface="Calibri"/>
                <a:cs typeface="Calibri"/>
                <a:sym typeface="Calibri"/>
              </a:rPr>
              <a:t>MoaNovel, MoaSchool 집중 개발 및 서비스 후 MoaMap 프로젝트 진행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FBA9D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" y="9791700"/>
            <a:ext cx="247269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698500"/>
            <a:ext cx="4572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0960100" y="-8813800"/>
            <a:ext cx="2476500" cy="227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86900" y="23114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358900" y="2082800"/>
            <a:ext cx="20916900" cy="1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0" spcFirstLastPara="1" rIns="0" wrap="square" tIns="71100">
            <a:noAutofit/>
          </a:bodyPr>
          <a:lstStyle/>
          <a:p>
            <a:pPr indent="0" lvl="0" marL="0" marR="0" rtl="0" algn="l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Moa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브랜드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론칭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- MoaPDF</a:t>
            </a:r>
            <a:endParaRPr/>
          </a:p>
        </p:txBody>
      </p:sp>
      <p:pic>
        <p:nvPicPr>
          <p:cNvPr id="168" name="Google Shape;1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11607800" y="876300"/>
            <a:ext cx="8902700" cy="151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title="moapdf.png"/>
          <p:cNvPicPr preferRelativeResize="0"/>
          <p:nvPr/>
        </p:nvPicPr>
        <p:blipFill rotWithShape="1">
          <a:blip r:embed="rId8">
            <a:alphaModFix/>
          </a:blip>
          <a:srcRect b="0" l="18186" r="18180" t="0"/>
          <a:stretch/>
        </p:blipFill>
        <p:spPr>
          <a:xfrm>
            <a:off x="812800" y="4025900"/>
            <a:ext cx="7404099" cy="88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9220099" y="9520850"/>
            <a:ext cx="136779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>
                <a:solidFill>
                  <a:srgbClr val="212121"/>
                </a:solidFill>
              </a:rPr>
              <a:t>모아pdf를 구글에서 검색 시 검색결과에서 </a:t>
            </a:r>
            <a:r>
              <a:rPr lang="ko-KR" sz="2933" u="sng">
                <a:solidFill>
                  <a:schemeClr val="hlink"/>
                </a:solidFill>
                <a:hlinkClick r:id="rId9"/>
              </a:rPr>
              <a:t>kangkangparks.com</a:t>
            </a:r>
            <a:r>
              <a:rPr lang="ko-KR" sz="2933">
                <a:solidFill>
                  <a:srgbClr val="212121"/>
                </a:solidFill>
              </a:rPr>
              <a:t> 으로 나오고 있음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 u="sng">
                <a:solidFill>
                  <a:schemeClr val="hlink"/>
                </a:solidFill>
                <a:hlinkClick r:id="rId10"/>
              </a:rPr>
              <a:t>https://moapdf.com</a:t>
            </a:r>
            <a:r>
              <a:rPr lang="ko-KR" sz="2933">
                <a:solidFill>
                  <a:srgbClr val="212121"/>
                </a:solidFill>
              </a:rPr>
              <a:t> 도메인 구입 및 SEO 등록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광고를 통해 검색결과 상위 노출</a:t>
            </a:r>
            <a:endParaRPr sz="2933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9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김해 테마 추가(김해시에서 토더기 캐릭터 사용 승인 검토중)</a:t>
            </a:r>
            <a:endParaRPr sz="2933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9220200" y="8606450"/>
            <a:ext cx="13677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개선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사항</a:t>
            </a:r>
            <a:endParaRPr b="1"/>
          </a:p>
        </p:txBody>
      </p:sp>
      <p:sp>
        <p:nvSpPr>
          <p:cNvPr id="172" name="Google Shape;172;p17"/>
          <p:cNvSpPr txBox="1"/>
          <p:nvPr/>
        </p:nvSpPr>
        <p:spPr>
          <a:xfrm>
            <a:off x="10083800" y="5555650"/>
            <a:ext cx="55620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PDF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문서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변환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SaaS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다양한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문서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포맷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지원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사용자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친화적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인터페이스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902700" y="4641243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</a:rPr>
              <a:t>MoaPDF</a:t>
            </a:r>
            <a:endParaRPr b="1"/>
          </a:p>
        </p:txBody>
      </p:sp>
      <p:sp>
        <p:nvSpPr>
          <p:cNvPr id="174" name="Google Shape;174;p17"/>
          <p:cNvSpPr txBox="1"/>
          <p:nvPr/>
        </p:nvSpPr>
        <p:spPr>
          <a:xfrm>
            <a:off x="17462500" y="5555650"/>
            <a:ext cx="54357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moapdf.</a:t>
            </a:r>
            <a:r>
              <a:rPr lang="ko-KR" sz="2933">
                <a:solidFill>
                  <a:srgbClr val="212121"/>
                </a:solidFill>
              </a:rPr>
              <a:t>kangkangparks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.com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>
                <a:solidFill>
                  <a:srgbClr val="212121"/>
                </a:solidFill>
              </a:rPr>
              <a:t>SEO 등록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한국, 미국, 독일 등 해외 접속 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일 평균 3 ~ 15 접속 기록 확인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6281400" y="4641243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733">
                <a:solidFill>
                  <a:srgbClr val="212121"/>
                </a:solidFill>
              </a:rPr>
              <a:t>정식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서비스 </a:t>
            </a:r>
            <a:r>
              <a:rPr b="1" lang="ko-KR" sz="37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론칭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FBA9D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" y="9791700"/>
            <a:ext cx="247269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698500"/>
            <a:ext cx="4572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0960100" y="-8813800"/>
            <a:ext cx="2476500" cy="227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86900" y="23114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1358900" y="2082800"/>
            <a:ext cx="20916900" cy="1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0" spcFirstLastPara="1" rIns="0" wrap="square" tIns="71100">
            <a:noAutofit/>
          </a:bodyPr>
          <a:lstStyle/>
          <a:p>
            <a:pPr indent="0" lvl="0" marL="0" marR="0" rtl="0" algn="l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Moa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브랜드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론칭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- MoaNovel 2</a:t>
            </a:r>
            <a:r>
              <a:rPr lang="ko-KR" sz="7466">
                <a:solidFill>
                  <a:srgbClr val="212121"/>
                </a:solidFill>
              </a:rPr>
              <a:t>차</a:t>
            </a:r>
            <a:endParaRPr/>
          </a:p>
        </p:txBody>
      </p:sp>
      <p:pic>
        <p:nvPicPr>
          <p:cNvPr id="185" name="Google Shape;18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11607800" y="876300"/>
            <a:ext cx="8902700" cy="151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title="moanovel.png"/>
          <p:cNvPicPr preferRelativeResize="0"/>
          <p:nvPr/>
        </p:nvPicPr>
        <p:blipFill rotWithShape="1">
          <a:blip r:embed="rId8">
            <a:alphaModFix/>
          </a:blip>
          <a:srcRect b="0" l="30298" r="30302" t="0"/>
          <a:stretch/>
        </p:blipFill>
        <p:spPr>
          <a:xfrm>
            <a:off x="812800" y="4025900"/>
            <a:ext cx="7404101" cy="8877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9220203" y="9364650"/>
            <a:ext cx="136779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>
                <a:solidFill>
                  <a:srgbClr val="212121"/>
                </a:solidFill>
              </a:rPr>
              <a:t>2차 MVP 작가 피드백 반영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Backend </a:t>
            </a:r>
            <a:r>
              <a:rPr lang="ko-KR" sz="2933">
                <a:solidFill>
                  <a:srgbClr val="212121"/>
                </a:solidFill>
              </a:rPr>
              <a:t>구현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기승전결, 글담, 해외 작가 커뮤니티 공략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텀블벅 크라우드펀딩 진행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220200" y="8464450"/>
            <a:ext cx="13677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7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1"/>
          </a:p>
        </p:txBody>
      </p:sp>
      <p:sp>
        <p:nvSpPr>
          <p:cNvPr id="189" name="Google Shape;189;p18"/>
          <p:cNvSpPr txBox="1"/>
          <p:nvPr/>
        </p:nvSpPr>
        <p:spPr>
          <a:xfrm>
            <a:off x="10105650" y="5595325"/>
            <a:ext cx="55668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웹소설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창작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지원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작가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맞춤형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도구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933">
                <a:solidFill>
                  <a:srgbClr val="212121"/>
                </a:solidFill>
              </a:rPr>
              <a:t>및 기능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제공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집필에 집중하는 레이아웃 구성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다양한 테마 지원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738250" y="4680925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</a:rPr>
              <a:t>MoaNovel</a:t>
            </a:r>
            <a:endParaRPr b="1"/>
          </a:p>
        </p:txBody>
      </p:sp>
      <p:sp>
        <p:nvSpPr>
          <p:cNvPr id="191" name="Google Shape;191;p18"/>
          <p:cNvSpPr txBox="1"/>
          <p:nvPr/>
        </p:nvSpPr>
        <p:spPr>
          <a:xfrm>
            <a:off x="17874350" y="5595325"/>
            <a:ext cx="50238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moanovel</a:t>
            </a:r>
            <a:r>
              <a:rPr lang="ko-KR" sz="2933">
                <a:solidFill>
                  <a:srgbClr val="212121"/>
                </a:solidFill>
              </a:rPr>
              <a:t>.vercel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ko-KR" sz="2933">
                <a:solidFill>
                  <a:srgbClr val="212121"/>
                </a:solidFill>
              </a:rPr>
              <a:t>app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- 1</a:t>
            </a:r>
            <a:r>
              <a:rPr lang="ko-KR" sz="2933">
                <a:solidFill>
                  <a:srgbClr val="212121"/>
                </a:solidFill>
              </a:rPr>
              <a:t>차 프로젝트 Pivot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- 1</a:t>
            </a:r>
            <a:r>
              <a:rPr lang="ko-KR" sz="2933">
                <a:solidFill>
                  <a:srgbClr val="212121"/>
                </a:solidFill>
              </a:rPr>
              <a:t>차 MVP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작가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피드백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반영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933">
                <a:solidFill>
                  <a:srgbClr val="212121"/>
                </a:solidFill>
              </a:rPr>
              <a:t>한국, 미국등 Global 서비스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6116950" y="4680925"/>
            <a:ext cx="6934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</a:rPr>
              <a:t>MVP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FBA9D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" y="9791700"/>
            <a:ext cx="247269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698500"/>
            <a:ext cx="4572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0960099" y="-8813801"/>
            <a:ext cx="2476500" cy="2275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86900" y="23114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1358900" y="2082800"/>
            <a:ext cx="209169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0" spcFirstLastPara="1" rIns="0" wrap="square" tIns="71100">
            <a:noAutofit/>
          </a:bodyPr>
          <a:lstStyle/>
          <a:p>
            <a:pPr indent="0" lvl="0" marL="0" marR="0" rtl="0" algn="l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Moa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브랜드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론칭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- Moa</a:t>
            </a:r>
            <a:r>
              <a:rPr lang="ko-KR" sz="7466">
                <a:solidFill>
                  <a:srgbClr val="212121"/>
                </a:solidFill>
              </a:rPr>
              <a:t>School</a:t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11607800" y="876300"/>
            <a:ext cx="8902700" cy="151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title="0.png"/>
          <p:cNvPicPr preferRelativeResize="0"/>
          <p:nvPr/>
        </p:nvPicPr>
        <p:blipFill rotWithShape="1">
          <a:blip r:embed="rId8">
            <a:alphaModFix/>
          </a:blip>
          <a:srcRect b="0" l="8298" r="8298" t="0"/>
          <a:stretch/>
        </p:blipFill>
        <p:spPr>
          <a:xfrm>
            <a:off x="812800" y="4025900"/>
            <a:ext cx="7404101" cy="88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8738250" y="5595325"/>
            <a:ext cx="14159700" cy="6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창업 교육 수료 후 발생하는 네트워킹 단절과 고립감 해소</a:t>
            </a:r>
            <a:endParaRPr sz="24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초기 창업가들이 "전쟁터에 혼자 나가는 기분"을 극복할 협력 공간 필요</a:t>
            </a:r>
            <a:endParaRPr sz="24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신뢰할 수 있는 동료, 멘토, 협력사가 있는 </a:t>
            </a:r>
            <a:r>
              <a:rPr b="1" lang="ko-KR" sz="2400">
                <a:solidFill>
                  <a:srgbClr val="1F1F1F"/>
                </a:solidFill>
                <a:highlight>
                  <a:srgbClr val="FFFFFF"/>
                </a:highlight>
              </a:rPr>
              <a:t>가상 협업 오피스</a:t>
            </a: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 제공</a:t>
            </a:r>
            <a:endParaRPr sz="24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단순 메타버스(ZEP)가 아닌 </a:t>
            </a:r>
            <a:r>
              <a:rPr b="1" lang="ko-KR" sz="2400">
                <a:solidFill>
                  <a:srgbClr val="1F1F1F"/>
                </a:solidFill>
                <a:highlight>
                  <a:srgbClr val="FFFFFF"/>
                </a:highlight>
              </a:rPr>
              <a:t>창업 교육 수료생 특화 버티컬 플랫폼</a:t>
            </a: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 포지셔닝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교육 기관(B2B)이 고객을 유치하고 수료생(B2C)이 플랫폼을 사용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폐업률이 높은 초기 창업팀에게 팀 빌딩, 정보 공유를 통한 생존율 증대 기여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오즈코딩스쿨 등 기존 교육 기관과 연계하여 1차 트래픽 확보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창업/사업 관련 메타버스 생태계 구축 및 자생적인 기그 이코노미(Gig Economy) 형성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8738250" y="4652525"/>
            <a:ext cx="14159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200">
                <a:solidFill>
                  <a:srgbClr val="1F1F1F"/>
                </a:solidFill>
                <a:highlight>
                  <a:srgbClr val="FFFFFF"/>
                </a:highlight>
              </a:rPr>
              <a:t>모아스쿨 핵심 가치: 예비 창업가를 위한 생존 플랫폼</a:t>
            </a:r>
            <a:endParaRPr b="1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FBA9D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" y="9791700"/>
            <a:ext cx="247269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698500"/>
            <a:ext cx="4572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0960099" y="-8813801"/>
            <a:ext cx="2476500" cy="2275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86900" y="23114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1358900" y="2082800"/>
            <a:ext cx="209169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0" spcFirstLastPara="1" rIns="0" wrap="square" tIns="71100">
            <a:noAutofit/>
          </a:bodyPr>
          <a:lstStyle/>
          <a:p>
            <a:pPr indent="0" lvl="0" marL="0" marR="0" rtl="0" algn="l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Moa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브랜드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론칭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- Moa</a:t>
            </a:r>
            <a:r>
              <a:rPr lang="ko-KR" sz="7466">
                <a:solidFill>
                  <a:srgbClr val="212121"/>
                </a:solidFill>
              </a:rPr>
              <a:t>School</a:t>
            </a:r>
            <a:endParaRPr/>
          </a:p>
        </p:txBody>
      </p:sp>
      <p:pic>
        <p:nvPicPr>
          <p:cNvPr id="215" name="Google Shape;21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11607800" y="876300"/>
            <a:ext cx="8902700" cy="151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title="2.png"/>
          <p:cNvPicPr preferRelativeResize="0"/>
          <p:nvPr/>
        </p:nvPicPr>
        <p:blipFill rotWithShape="1">
          <a:blip r:embed="rId8">
            <a:alphaModFix/>
          </a:blip>
          <a:srcRect b="0" l="6308" r="6317" t="0"/>
          <a:stretch/>
        </p:blipFill>
        <p:spPr>
          <a:xfrm>
            <a:off x="812800" y="4025900"/>
            <a:ext cx="7404101" cy="88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8738250" y="5595325"/>
            <a:ext cx="14159700" cy="6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시/군 단위로 룸을 구분하여 지역 기반 네트워킹 활성화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특정 주제(1인 개발자, 웹 에이전시, 열처리 등)에 따른 전문 커뮤니티 공간 제공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기업 개설 및 홍보, 기업 정보 등록을 통한 파트너십/업무 의뢰 창구 제공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초기 사용자 확보를 위해 시/군 단위가 아닌 **광역 단위(예: 경상권 라운지)**로 통합하여 운영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캠프 방장(유료회원) 및 매니저에게 룸 꾸미기, 가입 승인 등 특별 권한 부여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유료 회원에게는 부재중 방문자 알림을 카톡/SMS로 제공(무료는 이메일)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자유게시판, 퀘스트, 파트너 모집 등 카테고리 구성 및 실시간 댓글 알림 기능 제공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8738250" y="4652525"/>
            <a:ext cx="14159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200">
                <a:solidFill>
                  <a:srgbClr val="1F1F1F"/>
                </a:solidFill>
                <a:highlight>
                  <a:srgbClr val="FFFFFF"/>
                </a:highlight>
              </a:rPr>
              <a:t>사용자 맞춤형 룸 구성 및 트래픽 밀도 유지 전략</a:t>
            </a:r>
            <a:endParaRPr b="1"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FBA9D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" y="9791700"/>
            <a:ext cx="247269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698500"/>
            <a:ext cx="4572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0960099" y="-8813801"/>
            <a:ext cx="2476500" cy="2275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86900" y="23114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1358900" y="2082800"/>
            <a:ext cx="209169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0" spcFirstLastPara="1" rIns="0" wrap="square" tIns="71100">
            <a:noAutofit/>
          </a:bodyPr>
          <a:lstStyle/>
          <a:p>
            <a:pPr indent="0" lvl="0" marL="0" marR="0" rtl="0" algn="l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Moa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브랜드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론칭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- Moa</a:t>
            </a:r>
            <a:r>
              <a:rPr lang="ko-KR" sz="7466">
                <a:solidFill>
                  <a:srgbClr val="212121"/>
                </a:solidFill>
              </a:rPr>
              <a:t>School</a:t>
            </a:r>
            <a:endParaRPr/>
          </a:p>
        </p:txBody>
      </p:sp>
      <p:pic>
        <p:nvPicPr>
          <p:cNvPr id="228" name="Google Shape;22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11607800" y="876300"/>
            <a:ext cx="8902700" cy="151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title="0.png"/>
          <p:cNvPicPr preferRelativeResize="0"/>
          <p:nvPr/>
        </p:nvPicPr>
        <p:blipFill rotWithShape="1">
          <a:blip r:embed="rId8">
            <a:alphaModFix/>
          </a:blip>
          <a:srcRect b="0" l="8298" r="8298" t="0"/>
          <a:stretch/>
        </p:blipFill>
        <p:spPr>
          <a:xfrm>
            <a:off x="812800" y="4025900"/>
            <a:ext cx="7404101" cy="88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8738250" y="5595325"/>
            <a:ext cx="14159700" cy="6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사용자가 주제, 정보 등을 포함하여 멘토링 요청을 등록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신청 시 무료 또는 포인트를 걸어 동기 부여 및 서비스 품질 확보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멘토는 요청 내용을 보고 수락/거절 결정 (유료 회원은 특정 멘토 지정 신청 가능)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유료 회원은 </a:t>
            </a:r>
            <a:r>
              <a:rPr b="1" lang="ko-KR" sz="2400">
                <a:solidFill>
                  <a:srgbClr val="1F1F1F"/>
                </a:solidFill>
                <a:highlight>
                  <a:srgbClr val="FFFFFF"/>
                </a:highlight>
              </a:rPr>
              <a:t>원하는 특정 멘토를 지정</a:t>
            </a: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하여 멘토링 요청 가능 (가장 강력한 유료 유인책)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멘토링 종료 후 신청자가 평점 및 리뷰를 등록하여 멘토의 신뢰도 구축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평점에 따라 멘토 등급(하수, 평민, 고수 등)을 부여하고 특수 효과/혜택 제공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멘토는 포인트를 현금으로 환전 가능하며, 모아스쿨은 환전 시 수수료를 수익으로 확보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멘토링 진행 시 화면 녹화 기능을 제공하여 분쟁 발생 시 증거 자료로 활용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멘토링 최소 시간 미준수, 품질 저하 시 포인트 지급 거부/요청에 대한 중재 기능 제공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1F1F1F"/>
                </a:solidFill>
                <a:highlight>
                  <a:srgbClr val="FFFFFF"/>
                </a:highlight>
              </a:rPr>
              <a:t>- 사용자가 포인트를 구매할 때 수수료를 차감하여 플랫폼의 핵심 수익으로 확보(유료 회원은 수수료 없음)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8738250" y="4652525"/>
            <a:ext cx="14159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200">
                <a:solidFill>
                  <a:srgbClr val="1F1F1F"/>
                </a:solidFill>
                <a:highlight>
                  <a:srgbClr val="FFFFFF"/>
                </a:highlight>
              </a:rPr>
              <a:t>차별화된 멘토링 BM: 포인트 에스크로 및 등급제</a:t>
            </a:r>
            <a:endParaRPr b="1"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FBA9D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" y="11188700"/>
            <a:ext cx="248920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698500"/>
            <a:ext cx="4699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6400800" y="-4267200"/>
            <a:ext cx="11569700" cy="227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86900" y="2197100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2200" y="3416300"/>
            <a:ext cx="221869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1358900" y="1892300"/>
            <a:ext cx="20916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0" spcFirstLastPara="1" rIns="0" wrap="square" tIns="71100">
            <a:noAutofit/>
          </a:bodyPr>
          <a:lstStyle/>
          <a:p>
            <a:pPr indent="0" lvl="0" marL="0" marR="0" rtl="0" algn="l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발전</a:t>
            </a: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방향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612000" y="8897300"/>
            <a:ext cx="40386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2333">
                <a:solidFill>
                  <a:srgbClr val="212121"/>
                </a:solidFill>
              </a:rPr>
              <a:t>모아노벨, 스쿨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정식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에이전시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3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사업 보류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B2C/B2B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확보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피드백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반영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개선</a:t>
            </a:r>
            <a:endParaRPr sz="1200"/>
          </a:p>
        </p:txBody>
      </p:sp>
      <p:sp>
        <p:nvSpPr>
          <p:cNvPr id="243" name="Google Shape;243;p22"/>
          <p:cNvSpPr txBox="1"/>
          <p:nvPr/>
        </p:nvSpPr>
        <p:spPr>
          <a:xfrm>
            <a:off x="5789826" y="8897300"/>
            <a:ext cx="4303800" cy="3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월간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활성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사용자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만명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모아협동조합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경남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전역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확대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AI/IoT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신규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사업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발굴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정부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지원사업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투자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유치</a:t>
            </a:r>
            <a:endParaRPr sz="1200"/>
          </a:p>
        </p:txBody>
      </p:sp>
      <p:sp>
        <p:nvSpPr>
          <p:cNvPr id="244" name="Google Shape;244;p22"/>
          <p:cNvSpPr txBox="1"/>
          <p:nvPr/>
        </p:nvSpPr>
        <p:spPr>
          <a:xfrm>
            <a:off x="10093736" y="8897300"/>
            <a:ext cx="4521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국내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대표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AI IoT 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기업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Moa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브랜드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글로벌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진출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사회적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가치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수익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동시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달성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기술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산업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생태계</a:t>
            </a:r>
            <a:r>
              <a:rPr lang="ko-KR" sz="1200"/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기여</a:t>
            </a:r>
            <a:endParaRPr sz="1200"/>
          </a:p>
        </p:txBody>
      </p:sp>
      <p:sp>
        <p:nvSpPr>
          <p:cNvPr id="245" name="Google Shape;245;p22"/>
          <p:cNvSpPr txBox="1"/>
          <p:nvPr/>
        </p:nvSpPr>
        <p:spPr>
          <a:xfrm>
            <a:off x="14254843" y="8897300"/>
            <a:ext cx="4521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기술력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중심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차별화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가치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제공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중심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제품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개발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개선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전략적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파트너십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협력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강화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지속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가능한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성장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구축</a:t>
            </a:r>
            <a:endParaRPr sz="1200"/>
          </a:p>
        </p:txBody>
      </p:sp>
      <p:sp>
        <p:nvSpPr>
          <p:cNvPr id="246" name="Google Shape;246;p22"/>
          <p:cNvSpPr txBox="1"/>
          <p:nvPr/>
        </p:nvSpPr>
        <p:spPr>
          <a:xfrm>
            <a:off x="18647229" y="8897300"/>
            <a:ext cx="52662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혁신적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서비스로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시장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경쟁력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확보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안정적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수익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창출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구조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확립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사회적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가치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실현</a:t>
            </a:r>
            <a:r>
              <a:rPr lang="ko-KR" sz="23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브랜드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강화</a:t>
            </a:r>
            <a:endParaRPr sz="1200"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기술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지속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가능한</a:t>
            </a:r>
            <a:r>
              <a:rPr b="0" i="0" lang="ko-KR" sz="23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성장</a:t>
            </a:r>
            <a:endParaRPr sz="1200"/>
          </a:p>
        </p:txBody>
      </p:sp>
      <p:grpSp>
        <p:nvGrpSpPr>
          <p:cNvPr id="247" name="Google Shape;247;p22"/>
          <p:cNvGrpSpPr/>
          <p:nvPr/>
        </p:nvGrpSpPr>
        <p:grpSpPr>
          <a:xfrm>
            <a:off x="1577070" y="4565650"/>
            <a:ext cx="21509264" cy="3911600"/>
            <a:chOff x="1588408" y="4392400"/>
            <a:chExt cx="21509264" cy="3911600"/>
          </a:xfrm>
        </p:grpSpPr>
        <p:pic>
          <p:nvPicPr>
            <p:cNvPr id="248" name="Google Shape;248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5400000">
              <a:off x="19001922" y="4208250"/>
              <a:ext cx="3911600" cy="427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rot="5400000">
              <a:off x="14700250" y="4208250"/>
              <a:ext cx="3911600" cy="427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5400000">
              <a:off x="10398579" y="4208250"/>
              <a:ext cx="3911600" cy="427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rot="5400000">
              <a:off x="6096907" y="4208250"/>
              <a:ext cx="3911600" cy="427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5400000">
              <a:off x="1772557" y="4208250"/>
              <a:ext cx="3911600" cy="4279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2"/>
            <p:cNvSpPr txBox="1"/>
            <p:nvPr/>
          </p:nvSpPr>
          <p:spPr>
            <a:xfrm>
              <a:off x="1854200" y="6049750"/>
              <a:ext cx="33147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00" lIns="0" spcFirstLastPara="1" rIns="0" wrap="square" tIns="474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733" u="none" cap="none" strike="noStrike">
                  <a:solidFill>
                    <a:srgbClr val="212121"/>
                  </a:solidFill>
                  <a:latin typeface="Calibri"/>
                  <a:ea typeface="Calibri"/>
                  <a:cs typeface="Calibri"/>
                  <a:sym typeface="Calibri"/>
                </a:rPr>
                <a:t>단기</a:t>
              </a:r>
              <a:r>
                <a:rPr b="0" i="0" lang="ko-KR" sz="3733" u="none" cap="none" strike="noStrike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ko-KR" sz="3733" u="none" cap="none" strike="noStrike">
                  <a:solidFill>
                    <a:srgbClr val="212121"/>
                  </a:solidFill>
                  <a:latin typeface="Calibri"/>
                  <a:ea typeface="Calibri"/>
                  <a:cs typeface="Calibri"/>
                  <a:sym typeface="Calibri"/>
                </a:rPr>
                <a:t>목표</a:t>
              </a:r>
              <a:endParaRPr/>
            </a:p>
          </p:txBody>
        </p:sp>
        <p:sp>
          <p:nvSpPr>
            <p:cNvPr id="254" name="Google Shape;254;p22"/>
            <p:cNvSpPr txBox="1"/>
            <p:nvPr/>
          </p:nvSpPr>
          <p:spPr>
            <a:xfrm>
              <a:off x="6178550" y="6049750"/>
              <a:ext cx="33147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00" lIns="0" spcFirstLastPara="1" rIns="0" wrap="square" tIns="474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733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중기</a:t>
              </a:r>
              <a:r>
                <a:rPr b="0" i="0" lang="ko-KR" sz="373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ko-KR" sz="3733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목표</a:t>
              </a:r>
              <a:endParaRPr/>
            </a:p>
          </p:txBody>
        </p:sp>
        <p:sp>
          <p:nvSpPr>
            <p:cNvPr id="255" name="Google Shape;255;p22"/>
            <p:cNvSpPr txBox="1"/>
            <p:nvPr/>
          </p:nvSpPr>
          <p:spPr>
            <a:xfrm>
              <a:off x="10490200" y="6049750"/>
              <a:ext cx="33147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00" lIns="0" spcFirstLastPara="1" rIns="0" wrap="square" tIns="474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733" u="none" cap="none" strike="noStrike">
                  <a:solidFill>
                    <a:srgbClr val="212121"/>
                  </a:solidFill>
                  <a:latin typeface="Calibri"/>
                  <a:ea typeface="Calibri"/>
                  <a:cs typeface="Calibri"/>
                  <a:sym typeface="Calibri"/>
                </a:rPr>
                <a:t>장기</a:t>
              </a:r>
              <a:r>
                <a:rPr b="0" i="0" lang="ko-KR" sz="3733" u="none" cap="none" strike="noStrike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ko-KR" sz="3733" u="none" cap="none" strike="noStrike">
                  <a:solidFill>
                    <a:srgbClr val="212121"/>
                  </a:solidFill>
                  <a:latin typeface="Calibri"/>
                  <a:ea typeface="Calibri"/>
                  <a:cs typeface="Calibri"/>
                  <a:sym typeface="Calibri"/>
                </a:rPr>
                <a:t>비전</a:t>
              </a:r>
              <a:endParaRPr/>
            </a:p>
          </p:txBody>
        </p:sp>
        <p:sp>
          <p:nvSpPr>
            <p:cNvPr id="256" name="Google Shape;256;p22"/>
            <p:cNvSpPr txBox="1"/>
            <p:nvPr/>
          </p:nvSpPr>
          <p:spPr>
            <a:xfrm>
              <a:off x="14655800" y="6049750"/>
              <a:ext cx="33147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00" lIns="0" spcFirstLastPara="1" rIns="0" wrap="square" tIns="474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733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핵심</a:t>
              </a:r>
              <a:r>
                <a:rPr b="0" i="0" lang="ko-KR" sz="373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ko-KR" sz="3733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전략</a:t>
              </a:r>
              <a:endParaRPr/>
            </a:p>
          </p:txBody>
        </p:sp>
        <p:sp>
          <p:nvSpPr>
            <p:cNvPr id="257" name="Google Shape;257;p22"/>
            <p:cNvSpPr txBox="1"/>
            <p:nvPr/>
          </p:nvSpPr>
          <p:spPr>
            <a:xfrm>
              <a:off x="19002829" y="6049750"/>
              <a:ext cx="33147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00" lIns="0" spcFirstLastPara="1" rIns="0" wrap="square" tIns="474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733" u="none" cap="none" strike="noStrike">
                  <a:solidFill>
                    <a:srgbClr val="212121"/>
                  </a:solidFill>
                  <a:latin typeface="Calibri"/>
                  <a:ea typeface="Calibri"/>
                  <a:cs typeface="Calibri"/>
                  <a:sym typeface="Calibri"/>
                </a:rPr>
                <a:t>기대</a:t>
              </a:r>
              <a:r>
                <a:rPr b="0" i="0" lang="ko-KR" sz="3733" u="none" cap="none" strike="noStrike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ko-KR" sz="3733" u="none" cap="none" strike="noStrike">
                  <a:solidFill>
                    <a:srgbClr val="212121"/>
                  </a:solidFill>
                  <a:latin typeface="Calibri"/>
                  <a:ea typeface="Calibri"/>
                  <a:cs typeface="Calibri"/>
                  <a:sym typeface="Calibri"/>
                </a:rPr>
                <a:t>효과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FBA9D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3068300" y="2387600"/>
            <a:ext cx="11569700" cy="94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698500"/>
            <a:ext cx="49784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562100" y="571500"/>
            <a:ext cx="11569700" cy="130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27000" y="21971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1524000" y="1981200"/>
            <a:ext cx="11277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100">
            <a:noAutofit/>
          </a:bodyPr>
          <a:lstStyle/>
          <a:p>
            <a:pPr indent="0" lvl="0" marL="0" marR="0" rtl="0" algn="l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466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1524000" y="6305550"/>
            <a:ext cx="11772900" cy="4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강강박스는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AI</a:t>
            </a:r>
            <a:r>
              <a:rPr lang="ko-KR" sz="29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ko-KR" sz="293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소프트웨어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기술을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활용하여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더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스마트한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세상을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만들기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위해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노력하고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있습니다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지금까지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소개해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드린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서비스와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대해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궁금한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점이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있으시면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언제든지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질문해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33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저희는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기술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기반의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혁신적인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솔루션을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통해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고객의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다양한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니즈를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충족시키고자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합니다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특히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Moa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브랜드의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서비스와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사회적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가치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실현에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관한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질문을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환영합니다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1524000" y="5162550"/>
            <a:ext cx="11798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궁금하신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점이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있으시면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자유롭게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질문해</a:t>
            </a:r>
            <a:r>
              <a:rPr b="1" i="0" lang="ko-KR" sz="3733" u="none" cap="none" strike="noStrike">
                <a:solidFill>
                  <a:srgbClr val="212121"/>
                </a:solidFill>
              </a:rPr>
              <a:t> </a:t>
            </a:r>
            <a:r>
              <a:rPr b="1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endParaRPr b="1"/>
          </a:p>
        </p:txBody>
      </p:sp>
      <p:pic>
        <p:nvPicPr>
          <p:cNvPr id="269" name="Google Shape;26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909800" y="2438400"/>
            <a:ext cx="78994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14909800" y="8597900"/>
            <a:ext cx="8013700" cy="17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이메일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: box@kangkangparks.com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웹사이트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: https://kangkangparks.com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전화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문의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페이지</a:t>
            </a:r>
            <a:r>
              <a:rPr b="0" i="0" lang="ko-KR" sz="29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9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참조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4909800" y="7454900"/>
            <a:ext cx="80391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23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강강박스</a:t>
            </a:r>
            <a:r>
              <a:rPr b="0" i="0" lang="ko-KR" sz="37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r>
              <a:rPr b="0" i="0" lang="ko-KR" sz="37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73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문의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99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7000"/>
            <a:ext cx="24384000" cy="523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900" y="1041400"/>
            <a:ext cx="43307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6794500" y="-3644900"/>
            <a:ext cx="10795000" cy="2139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2781300" y="1206500"/>
            <a:ext cx="224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13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2025   l  ver.1</a:t>
            </a:r>
            <a:endParaRPr/>
          </a:p>
        </p:txBody>
      </p:sp>
      <p:pic>
        <p:nvPicPr>
          <p:cNvPr id="280" name="Google Shape;28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40000" y="4216200"/>
            <a:ext cx="19469100" cy="7531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9817129" y="8748714"/>
            <a:ext cx="11471700" cy="22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39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더</a:t>
            </a:r>
            <a:r>
              <a:rPr b="0" i="0" lang="ko-KR" sz="3399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39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스마트한</a:t>
            </a:r>
            <a:r>
              <a:rPr b="0" i="0" lang="ko-KR" sz="3399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39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세상을</a:t>
            </a:r>
            <a:r>
              <a:rPr b="0" i="0" lang="ko-KR" sz="3399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39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만들기</a:t>
            </a:r>
            <a:r>
              <a:rPr b="0" i="0" lang="ko-KR" sz="3399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39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위한</a:t>
            </a:r>
            <a:r>
              <a:rPr b="0" i="0" lang="ko-KR" sz="3399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39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여정에</a:t>
            </a:r>
            <a:r>
              <a:rPr b="0" i="0" lang="ko-KR" sz="3399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39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함께해</a:t>
            </a:r>
            <a:r>
              <a:rPr b="0" i="0" lang="ko-KR" sz="3399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39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주셔서</a:t>
            </a:r>
            <a:r>
              <a:rPr b="0" i="0" lang="ko-KR" sz="3399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339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r>
              <a:rPr b="0" i="0" lang="ko-KR" sz="3399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/>
          </a:p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39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홈페이지</a:t>
            </a:r>
            <a:r>
              <a:rPr b="0" i="0" lang="ko-KR" sz="3399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: https://kangkangparks.com</a:t>
            </a:r>
            <a:endParaRPr sz="1600"/>
          </a:p>
        </p:txBody>
      </p:sp>
      <p:pic>
        <p:nvPicPr>
          <p:cNvPr id="282" name="Google Shape;28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69300" y="29591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52700" y="29591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3289300" y="2679700"/>
            <a:ext cx="17818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0" spcFirstLastPara="1" rIns="0" wrap="square" tIns="71100">
            <a:noAutofit/>
          </a:bodyPr>
          <a:lstStyle/>
          <a:p>
            <a:pPr indent="0" lvl="0" marL="0" marR="0" rtl="0" algn="ctr">
              <a:lnSpc>
                <a:spcPct val="10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46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3435525" y="9755225"/>
            <a:ext cx="5271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199">
                <a:solidFill>
                  <a:srgbClr val="212121"/>
                </a:solidFill>
              </a:rPr>
              <a:t>AI</a:t>
            </a:r>
            <a:r>
              <a:rPr lang="ko-KR" sz="3199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sz="3199">
                <a:solidFill>
                  <a:srgbClr val="212121"/>
                </a:solidFill>
              </a:rPr>
              <a:t>IoT</a:t>
            </a:r>
            <a:r>
              <a:rPr lang="ko-KR" sz="3199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sz="3199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소프트웨어</a:t>
            </a:r>
            <a:r>
              <a:rPr lang="ko-KR" sz="3199">
                <a:solidFill>
                  <a:srgbClr val="212121"/>
                </a:solidFill>
              </a:rPr>
              <a:t> </a:t>
            </a:r>
            <a:r>
              <a:rPr lang="ko-KR" sz="3199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개발</a:t>
            </a:r>
            <a:endParaRPr/>
          </a:p>
        </p:txBody>
      </p:sp>
      <p:pic>
        <p:nvPicPr>
          <p:cNvPr id="286" name="Google Shape;286;p24" title="강강박스 로고_세로형_흰색.png"/>
          <p:cNvPicPr preferRelativeResize="0"/>
          <p:nvPr/>
        </p:nvPicPr>
        <p:blipFill rotWithShape="1">
          <a:blip r:embed="rId8">
            <a:alphaModFix/>
          </a:blip>
          <a:srcRect b="18080" l="0" r="0" t="6173"/>
          <a:stretch/>
        </p:blipFill>
        <p:spPr>
          <a:xfrm>
            <a:off x="3556350" y="5945225"/>
            <a:ext cx="502994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 title="ChatGPT Image 2025년 10월 20일 오후 04_25_59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461850" y="5057988"/>
            <a:ext cx="3600000" cy="36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4" title="ChatGPT Image 2025년 10월 21일 오전 10_37_58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610225" y="4949525"/>
            <a:ext cx="3809999" cy="380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